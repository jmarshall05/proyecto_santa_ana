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3"/>
  </p:sldMasterIdLst>
  <p:notesMasterIdLst>
    <p:notesMasterId r:id="rId14"/>
  </p:notesMasterIdLst>
  <p:sldIdLst>
    <p:sldId id="287" r:id="rId4"/>
    <p:sldId id="288" r:id="rId5"/>
    <p:sldId id="294" r:id="rId6"/>
    <p:sldId id="289" r:id="rId7"/>
    <p:sldId id="290" r:id="rId8"/>
    <p:sldId id="301" r:id="rId9"/>
    <p:sldId id="291" r:id="rId10"/>
    <p:sldId id="292" r:id="rId11"/>
    <p:sldId id="302" r:id="rId12"/>
    <p:sldId id="303" r:id="rId13"/>
  </p:sldIdLst>
  <p:sldSz cx="12192000" cy="6858000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Tahoma" panose="020B0604030504040204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88BbOjsq/KpqbhuYv4vpB2C2Fk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 Ramírez Jiménez" initials="" lastIdx="3" clrIdx="0"/>
  <p:cmAuthor id="1" name="Nayudell Castro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79"/>
  </p:normalViewPr>
  <p:slideViewPr>
    <p:cSldViewPr snapToGrid="0">
      <p:cViewPr varScale="1">
        <p:scale>
          <a:sx n="65" d="100"/>
          <a:sy n="65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9" Type="http://schemas.openxmlformats.org/officeDocument/2006/relationships/customXml" Target="../customXml/item3.xml"/><Relationship Id="rId3" Type="http://schemas.openxmlformats.org/officeDocument/2006/relationships/slideMaster" Target="slideMasters/slideMaster1.xml"/><Relationship Id="rId34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6697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preserve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>
            <a:spLocks noGrp="1"/>
          </p:cNvSpPr>
          <p:nvPr>
            <p:ph type="ctrTitle"/>
          </p:nvPr>
        </p:nvSpPr>
        <p:spPr>
          <a:xfrm>
            <a:off x="620337" y="1548045"/>
            <a:ext cx="5275587" cy="160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sz="4800" b="1" i="0">
                <a:solidFill>
                  <a:schemeClr val="lt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pic>
        <p:nvPicPr>
          <p:cNvPr id="32" name="Google Shape;32;p2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620337" y="420605"/>
            <a:ext cx="1530152" cy="7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824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preserve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>
            <a:spLocks noGrp="1"/>
          </p:cNvSpPr>
          <p:nvPr>
            <p:ph type="ctrTitle"/>
          </p:nvPr>
        </p:nvSpPr>
        <p:spPr>
          <a:xfrm>
            <a:off x="5741234" y="1418647"/>
            <a:ext cx="5630354" cy="1602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sz="4800" b="1" i="0">
                <a:solidFill>
                  <a:schemeClr val="lt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pic>
        <p:nvPicPr>
          <p:cNvPr id="36" name="Google Shape;36;p2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0101793" y="405431"/>
            <a:ext cx="1530152" cy="7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2445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contenido">
  <p:cSld name="7_Diapositiva de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08979"/>
            <a:ext cx="12239183" cy="15490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7"/>
          <p:cNvSpPr txBox="1">
            <a:spLocks noGrp="1"/>
          </p:cNvSpPr>
          <p:nvPr>
            <p:ph type="ctrTitle"/>
          </p:nvPr>
        </p:nvSpPr>
        <p:spPr>
          <a:xfrm>
            <a:off x="687891" y="585243"/>
            <a:ext cx="6184902" cy="94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1C8E"/>
              </a:buClr>
              <a:buSzPts val="4800"/>
              <a:buFont typeface="Avenir"/>
              <a:buNone/>
              <a:defRPr sz="4800" b="1" i="0">
                <a:solidFill>
                  <a:srgbClr val="DD1C8E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687891" y="1972290"/>
            <a:ext cx="10709275" cy="3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1" name="Google Shape;41;p2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0049668" y="5975853"/>
            <a:ext cx="1412660" cy="6535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030032ba5_0_96"/>
          <p:cNvSpPr txBox="1">
            <a:spLocks noGrp="1"/>
          </p:cNvSpPr>
          <p:nvPr>
            <p:ph type="title"/>
          </p:nvPr>
        </p:nvSpPr>
        <p:spPr>
          <a:xfrm>
            <a:off x="838194" y="572133"/>
            <a:ext cx="98076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800" b="1" i="0">
                <a:solidFill>
                  <a:srgbClr val="000F9F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158" name="Google Shape;158;g22030032ba5_0_96"/>
          <p:cNvSpPr txBox="1">
            <a:spLocks noGrp="1"/>
          </p:cNvSpPr>
          <p:nvPr>
            <p:ph type="body" idx="1"/>
          </p:nvPr>
        </p:nvSpPr>
        <p:spPr>
          <a:xfrm>
            <a:off x="838200" y="2067983"/>
            <a:ext cx="51816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b="0" i="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9" name="Google Shape;159;g22030032ba5_0_96"/>
          <p:cNvSpPr txBox="1">
            <a:spLocks noGrp="1"/>
          </p:cNvSpPr>
          <p:nvPr>
            <p:ph type="body" idx="2"/>
          </p:nvPr>
        </p:nvSpPr>
        <p:spPr>
          <a:xfrm>
            <a:off x="6172200" y="2067983"/>
            <a:ext cx="51816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b="0" i="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1" userDrawn="1">
  <p:cSld name="1_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030032ba5_0_102"/>
          <p:cNvSpPr txBox="1">
            <a:spLocks noGrp="1"/>
          </p:cNvSpPr>
          <p:nvPr>
            <p:ph type="body" idx="1"/>
          </p:nvPr>
        </p:nvSpPr>
        <p:spPr>
          <a:xfrm>
            <a:off x="838200" y="2067983"/>
            <a:ext cx="51816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b="0" i="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7" name="Google Shape;167;g22030032ba5_0_102"/>
          <p:cNvSpPr txBox="1">
            <a:spLocks noGrp="1"/>
          </p:cNvSpPr>
          <p:nvPr>
            <p:ph type="body" idx="2"/>
          </p:nvPr>
        </p:nvSpPr>
        <p:spPr>
          <a:xfrm>
            <a:off x="6172200" y="2067983"/>
            <a:ext cx="5181600" cy="37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 b="0" i="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Google Shape;157;g22030032ba5_0_96">
            <a:extLst>
              <a:ext uri="{FF2B5EF4-FFF2-40B4-BE49-F238E27FC236}">
                <a16:creationId xmlns:a16="http://schemas.microsoft.com/office/drawing/2014/main" id="{490E8EC4-ADB7-9762-E778-B57B216F1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94" y="572133"/>
            <a:ext cx="98076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800" b="1" i="0">
                <a:solidFill>
                  <a:srgbClr val="000F9F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contenido">
  <p:cSld name="9_Diapositiva de título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38541" y="311411"/>
            <a:ext cx="7570305" cy="162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314951"/>
            <a:ext cx="12192000" cy="1543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8"/>
          <p:cNvSpPr txBox="1">
            <a:spLocks noGrp="1"/>
          </p:cNvSpPr>
          <p:nvPr>
            <p:ph type="ctrTitle"/>
          </p:nvPr>
        </p:nvSpPr>
        <p:spPr>
          <a:xfrm>
            <a:off x="687891" y="681510"/>
            <a:ext cx="6184902" cy="94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sz="4800" b="1" i="0">
                <a:solidFill>
                  <a:schemeClr val="lt1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46" name="Google Shape;46;p28"/>
          <p:cNvSpPr txBox="1">
            <a:spLocks noGrp="1"/>
          </p:cNvSpPr>
          <p:nvPr>
            <p:ph type="body" idx="1"/>
          </p:nvPr>
        </p:nvSpPr>
        <p:spPr>
          <a:xfrm>
            <a:off x="687891" y="2214005"/>
            <a:ext cx="10709275" cy="3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47" name="Google Shape;47;p2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0049668" y="5975853"/>
            <a:ext cx="1412660" cy="65354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contenido" userDrawn="1">
  <p:cSld name="1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>
            <a:spLocks noGrp="1"/>
          </p:cNvSpPr>
          <p:nvPr>
            <p:ph type="ctrTitle"/>
          </p:nvPr>
        </p:nvSpPr>
        <p:spPr>
          <a:xfrm>
            <a:off x="537296" y="539642"/>
            <a:ext cx="6184902" cy="94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1C8E"/>
              </a:buClr>
              <a:buSzPts val="4800"/>
              <a:buFont typeface="Avenir"/>
              <a:buNone/>
              <a:defRPr sz="4800" b="1" i="0">
                <a:solidFill>
                  <a:srgbClr val="DD1C8E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pic>
        <p:nvPicPr>
          <p:cNvPr id="68" name="Google Shape;68;p3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37296" y="5863158"/>
            <a:ext cx="1338262" cy="6191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F5AEC1-722D-ED50-5AA3-5AAA7F1E28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7297" y="1682265"/>
            <a:ext cx="4931816" cy="3767999"/>
          </a:xfrm>
          <a:prstGeom prst="rect">
            <a:avLst/>
          </a:prstGeom>
        </p:spPr>
      </p:pic>
      <p:sp>
        <p:nvSpPr>
          <p:cNvPr id="69" name="Google Shape;69;p32"/>
          <p:cNvSpPr txBox="1">
            <a:spLocks noGrp="1"/>
          </p:cNvSpPr>
          <p:nvPr>
            <p:ph type="body" idx="3"/>
          </p:nvPr>
        </p:nvSpPr>
        <p:spPr>
          <a:xfrm>
            <a:off x="957181" y="1856380"/>
            <a:ext cx="4234929" cy="314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contenido" userDrawn="1">
  <p:cSld name="15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ctrTitle"/>
          </p:nvPr>
        </p:nvSpPr>
        <p:spPr>
          <a:xfrm>
            <a:off x="537296" y="499886"/>
            <a:ext cx="6184902" cy="94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1C8E"/>
              </a:buClr>
              <a:buSzPts val="4800"/>
              <a:buFont typeface="Avenir"/>
              <a:buNone/>
              <a:defRPr sz="4800" b="1" i="0">
                <a:solidFill>
                  <a:srgbClr val="DD1C8E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pic>
        <p:nvPicPr>
          <p:cNvPr id="74" name="Google Shape;74;p3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37296" y="5863158"/>
            <a:ext cx="1338262" cy="6191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456E43-1446-29CB-061B-3D4214842F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7297" y="1682265"/>
            <a:ext cx="4931816" cy="3767999"/>
          </a:xfrm>
          <a:prstGeom prst="rect">
            <a:avLst/>
          </a:prstGeom>
        </p:spPr>
      </p:pic>
      <p:sp>
        <p:nvSpPr>
          <p:cNvPr id="3" name="Google Shape;69;p32">
            <a:extLst>
              <a:ext uri="{FF2B5EF4-FFF2-40B4-BE49-F238E27FC236}">
                <a16:creationId xmlns:a16="http://schemas.microsoft.com/office/drawing/2014/main" id="{56A90E9E-A047-1C77-5609-D09B139D52A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57181" y="1856380"/>
            <a:ext cx="4234929" cy="3145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contenido">
  <p:cSld name="13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5"/>
          <p:cNvSpPr txBox="1">
            <a:spLocks noGrp="1"/>
          </p:cNvSpPr>
          <p:nvPr>
            <p:ph type="ctrTitle"/>
          </p:nvPr>
        </p:nvSpPr>
        <p:spPr>
          <a:xfrm>
            <a:off x="719528" y="751601"/>
            <a:ext cx="6002670" cy="940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D1C8E"/>
              </a:buClr>
              <a:buSzPts val="4800"/>
              <a:buFont typeface="Avenir"/>
              <a:buNone/>
              <a:defRPr sz="4800" b="1" i="0">
                <a:solidFill>
                  <a:srgbClr val="000F9F"/>
                </a:solidFill>
                <a:latin typeface="Arial Black" panose="020B0604020202020204" pitchFamily="34" charset="0"/>
                <a:ea typeface="Arial Black" panose="020B0604020202020204" pitchFamily="34" charset="0"/>
                <a:cs typeface="Arial Black" panose="020B0604020202020204" pitchFamily="34" charset="0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pic>
        <p:nvPicPr>
          <p:cNvPr id="84" name="Google Shape;84;p3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0103798" y="5660696"/>
            <a:ext cx="1603519" cy="7418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85" name="Google Shape;85;p35"/>
          <p:cNvSpPr txBox="1">
            <a:spLocks noGrp="1"/>
          </p:cNvSpPr>
          <p:nvPr>
            <p:ph type="body" idx="1"/>
          </p:nvPr>
        </p:nvSpPr>
        <p:spPr>
          <a:xfrm>
            <a:off x="1349116" y="2158584"/>
            <a:ext cx="9333874" cy="3006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56" r:id="rId3"/>
    <p:sldLayoutId id="2147483677" r:id="rId4"/>
    <p:sldLayoutId id="2147483678" r:id="rId5"/>
    <p:sldLayoutId id="2147483657" r:id="rId6"/>
    <p:sldLayoutId id="2147483661" r:id="rId7"/>
    <p:sldLayoutId id="2147483662" r:id="rId8"/>
    <p:sldLayoutId id="214748366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A324B-38B9-7361-4963-A599C940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891" y="781665"/>
            <a:ext cx="10709275" cy="4302125"/>
          </a:xfrm>
        </p:spPr>
        <p:txBody>
          <a:bodyPr>
            <a:norm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s-MX" b="1" dirty="0"/>
              <a:t>Evaluación de las Funciones Gerenciales Mediante el Análisis de Entrevistas, Encuestas y Revisión Documental para Mejorar el Desempeño Organizacional en la Constructora ICASA durante el Segundo Semestre de 2025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Integrantes: Heidy Carranza Jiménez, Fabiola Carvajal Solano, Amanda Arias Cedeño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Universidad Fidélitas.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Fundamentos de Administración y Gerencia AN-102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Profesora: </a:t>
            </a:r>
            <a:r>
              <a:rPr lang="es-MX"/>
              <a:t>Máster. Heidy </a:t>
            </a:r>
            <a:r>
              <a:rPr lang="es-MX" dirty="0"/>
              <a:t>Carranza Jiménez.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Mes, año</a:t>
            </a:r>
          </a:p>
          <a:p>
            <a:endParaRPr lang="en-CR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9A95F8-A085-03F7-09B2-D4010FAC166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21515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65AF-C460-0DDB-B274-B466AF24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Planteamiento del Problema</a:t>
            </a:r>
            <a:endParaRPr lang="en-CR" dirty="0"/>
          </a:p>
        </p:txBody>
      </p:sp>
      <p:sp>
        <p:nvSpPr>
          <p:cNvPr id="5" name="Freeform 2"/>
          <p:cNvSpPr/>
          <p:nvPr/>
        </p:nvSpPr>
        <p:spPr>
          <a:xfrm>
            <a:off x="8483404" y="1264674"/>
            <a:ext cx="699627" cy="699627"/>
          </a:xfrm>
          <a:custGeom>
            <a:avLst/>
            <a:gdLst/>
            <a:ahLst/>
            <a:cxnLst/>
            <a:rect l="l" t="t" r="r" b="b"/>
            <a:pathLst>
              <a:path w="1049441" h="1049441">
                <a:moveTo>
                  <a:pt x="0" y="0"/>
                </a:moveTo>
                <a:lnTo>
                  <a:pt x="1049441" y="0"/>
                </a:lnTo>
                <a:lnTo>
                  <a:pt x="1049441" y="1049441"/>
                </a:lnTo>
                <a:lnTo>
                  <a:pt x="0" y="104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R" sz="933"/>
          </a:p>
        </p:txBody>
      </p:sp>
      <p:sp>
        <p:nvSpPr>
          <p:cNvPr id="7" name="Freeform 7"/>
          <p:cNvSpPr/>
          <p:nvPr/>
        </p:nvSpPr>
        <p:spPr>
          <a:xfrm>
            <a:off x="5702608" y="4334924"/>
            <a:ext cx="1950943" cy="1950943"/>
          </a:xfrm>
          <a:custGeom>
            <a:avLst/>
            <a:gdLst/>
            <a:ahLst/>
            <a:cxnLst/>
            <a:rect l="l" t="t" r="r" b="b"/>
            <a:pathLst>
              <a:path w="2926414" h="2926414">
                <a:moveTo>
                  <a:pt x="0" y="0"/>
                </a:moveTo>
                <a:lnTo>
                  <a:pt x="2926414" y="0"/>
                </a:lnTo>
                <a:lnTo>
                  <a:pt x="2926414" y="2926414"/>
                </a:lnTo>
                <a:lnTo>
                  <a:pt x="0" y="2926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es-CR" sz="933"/>
          </a:p>
        </p:txBody>
      </p:sp>
      <p:sp>
        <p:nvSpPr>
          <p:cNvPr id="8" name="Freeform 8"/>
          <p:cNvSpPr/>
          <p:nvPr/>
        </p:nvSpPr>
        <p:spPr>
          <a:xfrm rot="62943">
            <a:off x="3035797" y="3901349"/>
            <a:ext cx="2103669" cy="2103669"/>
          </a:xfrm>
          <a:custGeom>
            <a:avLst/>
            <a:gdLst/>
            <a:ahLst/>
            <a:cxnLst/>
            <a:rect l="l" t="t" r="r" b="b"/>
            <a:pathLst>
              <a:path w="3155503" h="3155503">
                <a:moveTo>
                  <a:pt x="0" y="0"/>
                </a:moveTo>
                <a:lnTo>
                  <a:pt x="3155504" y="0"/>
                </a:lnTo>
                <a:lnTo>
                  <a:pt x="3155504" y="3155503"/>
                </a:lnTo>
                <a:lnTo>
                  <a:pt x="0" y="315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50000"/>
              </a:lnSpc>
            </a:pPr>
            <a:endParaRPr lang="es-CR" sz="933"/>
          </a:p>
        </p:txBody>
      </p:sp>
      <p:sp>
        <p:nvSpPr>
          <p:cNvPr id="9" name="Freeform 9"/>
          <p:cNvSpPr/>
          <p:nvPr/>
        </p:nvSpPr>
        <p:spPr>
          <a:xfrm>
            <a:off x="7743794" y="2790744"/>
            <a:ext cx="1952687" cy="1952687"/>
          </a:xfrm>
          <a:custGeom>
            <a:avLst/>
            <a:gdLst/>
            <a:ahLst/>
            <a:cxnLst/>
            <a:rect l="l" t="t" r="r" b="b"/>
            <a:pathLst>
              <a:path w="2929030" h="2929030">
                <a:moveTo>
                  <a:pt x="0" y="0"/>
                </a:moveTo>
                <a:lnTo>
                  <a:pt x="2929030" y="0"/>
                </a:lnTo>
                <a:lnTo>
                  <a:pt x="2929030" y="2929030"/>
                </a:lnTo>
                <a:lnTo>
                  <a:pt x="0" y="2929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50000"/>
              </a:lnSpc>
            </a:pPr>
            <a:endParaRPr lang="es-CR" sz="933"/>
          </a:p>
        </p:txBody>
      </p:sp>
      <p:sp>
        <p:nvSpPr>
          <p:cNvPr id="10" name="Freeform 10"/>
          <p:cNvSpPr/>
          <p:nvPr/>
        </p:nvSpPr>
        <p:spPr>
          <a:xfrm>
            <a:off x="2238176" y="1614487"/>
            <a:ext cx="2028108" cy="2028108"/>
          </a:xfrm>
          <a:custGeom>
            <a:avLst/>
            <a:gdLst/>
            <a:ahLst/>
            <a:cxnLst/>
            <a:rect l="l" t="t" r="r" b="b"/>
            <a:pathLst>
              <a:path w="3042162" h="3042162">
                <a:moveTo>
                  <a:pt x="0" y="0"/>
                </a:moveTo>
                <a:lnTo>
                  <a:pt x="3042162" y="0"/>
                </a:lnTo>
                <a:lnTo>
                  <a:pt x="3042162" y="3042162"/>
                </a:lnTo>
                <a:lnTo>
                  <a:pt x="0" y="30421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R" sz="933"/>
          </a:p>
        </p:txBody>
      </p:sp>
      <p:sp>
        <p:nvSpPr>
          <p:cNvPr id="11" name="Freeform 11"/>
          <p:cNvSpPr/>
          <p:nvPr/>
        </p:nvSpPr>
        <p:spPr>
          <a:xfrm>
            <a:off x="4939384" y="1614487"/>
            <a:ext cx="2613903" cy="2352513"/>
          </a:xfrm>
          <a:custGeom>
            <a:avLst/>
            <a:gdLst/>
            <a:ahLst/>
            <a:cxnLst/>
            <a:rect l="l" t="t" r="r" b="b"/>
            <a:pathLst>
              <a:path w="3920855" h="3528770">
                <a:moveTo>
                  <a:pt x="0" y="0"/>
                </a:moveTo>
                <a:lnTo>
                  <a:pt x="3920856" y="0"/>
                </a:lnTo>
                <a:lnTo>
                  <a:pt x="3920856" y="3528770"/>
                </a:lnTo>
                <a:lnTo>
                  <a:pt x="0" y="3528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R" sz="933"/>
          </a:p>
        </p:txBody>
      </p:sp>
      <p:sp>
        <p:nvSpPr>
          <p:cNvPr id="13" name="TextBox 13"/>
          <p:cNvSpPr txBox="1"/>
          <p:nvPr/>
        </p:nvSpPr>
        <p:spPr>
          <a:xfrm>
            <a:off x="5158548" y="2235837"/>
            <a:ext cx="1965007" cy="77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 Bold"/>
              </a:rPr>
              <a:t>Problemática Central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10946" y="2235837"/>
            <a:ext cx="1612571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Antecedentes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55898" y="4691059"/>
            <a:ext cx="1727631" cy="77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Espacio Geográfico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7862" y="3433273"/>
            <a:ext cx="1644553" cy="77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Estructura de la empresa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10805" y="4522653"/>
            <a:ext cx="235365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Puntos de </a:t>
            </a:r>
            <a:r>
              <a:rPr lang="en-US" sz="18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mejora</a:t>
            </a:r>
            <a:r>
              <a:rPr lang="en-US" sz="18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T Ramil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05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143C-6B10-4A8C-5835-F52BAB312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540" y="1286690"/>
            <a:ext cx="6002670" cy="940938"/>
          </a:xfrm>
        </p:spPr>
        <p:txBody>
          <a:bodyPr/>
          <a:lstStyle/>
          <a:p>
            <a:r>
              <a:rPr lang="es-CR" dirty="0"/>
              <a:t>Pregunta de Investigación</a:t>
            </a:r>
            <a:endParaRPr lang="en-C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9CAC0-9C7F-6CCD-36F0-2706796781E1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AA4AA-C4B3-241F-CB8A-F2F0F1C9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0406" y="2900426"/>
            <a:ext cx="9333874" cy="1617003"/>
          </a:xfrm>
        </p:spPr>
        <p:txBody>
          <a:bodyPr/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s-MX" sz="2000" dirty="0"/>
              <a:t>¿</a:t>
            </a:r>
            <a:r>
              <a:rPr lang="es-MX" sz="2000" dirty="0">
                <a:sym typeface="Arial"/>
              </a:rPr>
              <a:t>Qué impacto tiene la evaluación de las funciones gerenciales, mediante entrevistas, encuestas y revisión documental, en la mejora del desempeño organizacional en la Constructora ICASA durante el segundo semestre de 2025?</a:t>
            </a:r>
          </a:p>
          <a:p>
            <a:endParaRPr lang="en-CR" dirty="0"/>
          </a:p>
        </p:txBody>
      </p:sp>
    </p:spTree>
    <p:extLst>
      <p:ext uri="{BB962C8B-B14F-4D97-AF65-F5344CB8AC3E}">
        <p14:creationId xmlns:p14="http://schemas.microsoft.com/office/powerpoint/2010/main" val="176911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AB0DD8-D0D7-E227-29CB-334F41C33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3931" y="1841569"/>
            <a:ext cx="9424137" cy="2789424"/>
          </a:xfrm>
        </p:spPr>
        <p:txBody>
          <a:bodyPr>
            <a:normAutofit/>
          </a:bodyPr>
          <a:lstStyle/>
          <a:p>
            <a:pPr marL="50800" indent="0" algn="just">
              <a:lnSpc>
                <a:spcPct val="150000"/>
              </a:lnSpc>
              <a:buNone/>
            </a:pPr>
            <a:r>
              <a:rPr lang="es-MX" sz="2000" dirty="0"/>
              <a:t>Explica la importancia de realizar el estudio, destacando la relevancia del tema y los problemas que se busca resolver. Señala cómo la investigación contribuirá a cerrar brechas de conocimiento, mejorar prácticas actuales o brindar soluciones prácticas e información útil. Responde a la pregunta clave: ¿por qué este estudio es necesario y qué aporta?.</a:t>
            </a:r>
            <a:endParaRPr lang="en-CR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71A189-730B-C426-611C-F000832C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68" y="852353"/>
            <a:ext cx="9807600" cy="871800"/>
          </a:xfrm>
        </p:spPr>
        <p:txBody>
          <a:bodyPr>
            <a:normAutofit/>
          </a:bodyPr>
          <a:lstStyle/>
          <a:p>
            <a:r>
              <a:rPr lang="es-MX" sz="4400" dirty="0"/>
              <a:t>Justificación</a:t>
            </a:r>
            <a:endParaRPr lang="en-CR" sz="4400" dirty="0"/>
          </a:p>
        </p:txBody>
      </p:sp>
    </p:spTree>
    <p:extLst>
      <p:ext uri="{BB962C8B-B14F-4D97-AF65-F5344CB8AC3E}">
        <p14:creationId xmlns:p14="http://schemas.microsoft.com/office/powerpoint/2010/main" val="283034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A795-0C0A-EDAE-067F-19EB1CB4A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Objetivo General</a:t>
            </a:r>
            <a:endParaRPr lang="en-C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F5FBC-958C-7633-A3C9-833CC7E6B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362" y="2574467"/>
            <a:ext cx="10709275" cy="1709066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s-CR" sz="2000"/>
              <a:t>Evaluar </a:t>
            </a:r>
            <a:r>
              <a:rPr lang="es-CR" sz="2000" dirty="0"/>
              <a:t>de las Funciones Gerenciales Mediante el Análisis de entrevistas, encuestas y revisión documental para mejorar el desempeño organizacional en la Constructora ICASA durante el segundo semestre de 2025.</a:t>
            </a:r>
            <a:endParaRPr lang="en-CR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803EDA-D6EE-C0BA-FFC1-281EBB9DC68D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75318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9A0E-C0B7-512B-FC9A-A44C0CEE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87E39F-44B0-C42A-FFBA-82B2912F6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335" y="1679908"/>
            <a:ext cx="9999330" cy="4426496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</a:pPr>
            <a:r>
              <a:rPr lang="es-CR" sz="1800" dirty="0"/>
              <a:t>Identificar las prácticas y funciones gerenciales actuales para la comprensión de los desafíos y oportunidades en la gestión organizacional y control de proyectos implementadas por los gerentes de la constructora.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</a:pPr>
            <a:r>
              <a:rPr lang="es-CR" sz="1800" dirty="0"/>
              <a:t>Examinar documentos organizacionales clave para el análisis de las áreas de mejora en las políticas y procesos gerenciales existentes. 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</a:pPr>
            <a:r>
              <a:rPr lang="es-CR" sz="1800" dirty="0"/>
              <a:t>Desarrollar un plan de mejora de las funciones gerenciales basado en los resultados obtenidos, en el desempeño organizacional.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A9AD36-E918-9181-0784-72D645C8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26" y="751596"/>
            <a:ext cx="9807600" cy="871800"/>
          </a:xfrm>
        </p:spPr>
        <p:txBody>
          <a:bodyPr>
            <a:normAutofit/>
          </a:bodyPr>
          <a:lstStyle/>
          <a:p>
            <a:r>
              <a:rPr lang="es-MX" sz="4400" dirty="0"/>
              <a:t>Objetivos Específicos</a:t>
            </a:r>
            <a:endParaRPr lang="en-CR" sz="4400" dirty="0"/>
          </a:p>
        </p:txBody>
      </p:sp>
    </p:spTree>
    <p:extLst>
      <p:ext uri="{BB962C8B-B14F-4D97-AF65-F5344CB8AC3E}">
        <p14:creationId xmlns:p14="http://schemas.microsoft.com/office/powerpoint/2010/main" val="1267839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687D-D370-62FE-20E4-10E48F321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2" y="628133"/>
            <a:ext cx="8311736" cy="940938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s-MX" sz="4400" dirty="0"/>
              <a:t>Desarrollo de Objetivos</a:t>
            </a:r>
            <a:endParaRPr lang="en-CR" sz="44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D2C78-BC54-C6F7-C55F-A697D079A033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BE97E-DED7-1F51-7A7C-64210D155E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endParaRPr lang="es-MX" dirty="0">
              <a:solidFill>
                <a:schemeClr val="bg1"/>
              </a:solidFill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s-MX" dirty="0">
                <a:solidFill>
                  <a:schemeClr val="bg1"/>
                </a:solidFill>
              </a:rPr>
              <a:t>Se debe desarrollar cada uno de los Objetivos. </a:t>
            </a:r>
            <a:endParaRPr lang="en-C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64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82CC8-FF3F-4619-41D7-DBDBEAFD5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070" y="780105"/>
            <a:ext cx="6184902" cy="940938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s-CR" sz="4400" dirty="0"/>
              <a:t>Conclusión de Objetivos</a:t>
            </a:r>
            <a:endParaRPr lang="en-CR" sz="440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63D93-B823-C737-89A8-026B0F170076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CC1D-EC61-D1E6-A446-8131C8D31E7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endParaRPr lang="es-MX" dirty="0">
              <a:solidFill>
                <a:schemeClr val="bg1"/>
              </a:solidFill>
            </a:endParaRPr>
          </a:p>
          <a:p>
            <a:pPr marL="114300" indent="0">
              <a:lnSpc>
                <a:spcPct val="150000"/>
              </a:lnSpc>
              <a:buNone/>
            </a:pPr>
            <a:r>
              <a:rPr lang="es-MX" dirty="0">
                <a:solidFill>
                  <a:schemeClr val="bg1"/>
                </a:solidFill>
              </a:rPr>
              <a:t>Se debe de concluir cada uno de los objetivos.</a:t>
            </a:r>
          </a:p>
          <a:p>
            <a:endParaRPr lang="en-CR" dirty="0"/>
          </a:p>
        </p:txBody>
      </p:sp>
    </p:spTree>
    <p:extLst>
      <p:ext uri="{BB962C8B-B14F-4D97-AF65-F5344CB8AC3E}">
        <p14:creationId xmlns:p14="http://schemas.microsoft.com/office/powerpoint/2010/main" val="272584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D177-79DE-BCE7-8F56-AC62C9E4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DD9173-A830-4017-DCD2-888E4D63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468" y="380405"/>
            <a:ext cx="9807600" cy="871800"/>
          </a:xfrm>
        </p:spPr>
        <p:txBody>
          <a:bodyPr>
            <a:normAutofit/>
          </a:bodyPr>
          <a:lstStyle/>
          <a:p>
            <a:r>
              <a:rPr lang="es-MX" sz="4000" dirty="0"/>
              <a:t>Propuesta de Solución </a:t>
            </a:r>
            <a:endParaRPr lang="en-CR" sz="40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BA50111-CF4E-374C-D89F-0CE38C4D8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348141"/>
              </p:ext>
            </p:extLst>
          </p:nvPr>
        </p:nvGraphicFramePr>
        <p:xfrm>
          <a:off x="1000468" y="1252205"/>
          <a:ext cx="10191064" cy="437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4920">
                  <a:extLst>
                    <a:ext uri="{9D8B030D-6E8A-4147-A177-3AD203B41FA5}">
                      <a16:colId xmlns:a16="http://schemas.microsoft.com/office/drawing/2014/main" val="3055434252"/>
                    </a:ext>
                  </a:extLst>
                </a:gridCol>
                <a:gridCol w="2039036">
                  <a:extLst>
                    <a:ext uri="{9D8B030D-6E8A-4147-A177-3AD203B41FA5}">
                      <a16:colId xmlns:a16="http://schemas.microsoft.com/office/drawing/2014/main" val="2762262452"/>
                    </a:ext>
                  </a:extLst>
                </a:gridCol>
                <a:gridCol w="2039036">
                  <a:extLst>
                    <a:ext uri="{9D8B030D-6E8A-4147-A177-3AD203B41FA5}">
                      <a16:colId xmlns:a16="http://schemas.microsoft.com/office/drawing/2014/main" val="3884442959"/>
                    </a:ext>
                  </a:extLst>
                </a:gridCol>
                <a:gridCol w="2039036">
                  <a:extLst>
                    <a:ext uri="{9D8B030D-6E8A-4147-A177-3AD203B41FA5}">
                      <a16:colId xmlns:a16="http://schemas.microsoft.com/office/drawing/2014/main" val="3709266567"/>
                    </a:ext>
                  </a:extLst>
                </a:gridCol>
                <a:gridCol w="2039036">
                  <a:extLst>
                    <a:ext uri="{9D8B030D-6E8A-4147-A177-3AD203B41FA5}">
                      <a16:colId xmlns:a16="http://schemas.microsoft.com/office/drawing/2014/main" val="3873062177"/>
                    </a:ext>
                  </a:extLst>
                </a:gridCol>
              </a:tblGrid>
              <a:tr h="484336">
                <a:tc>
                  <a:txBody>
                    <a:bodyPr/>
                    <a:lstStyle/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Objetivo específico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Definición Conceptual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Definición</a:t>
                      </a:r>
                    </a:p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Operacional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CR" sz="1300" b="1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Definición Instrumental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1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Identificar las prácticas y funciones gerenciales actuales, con el fin de comprender los desafíos y oportunidades en la gestión organizacional y control de proyectos implementadas por los gerentes de la constructora.</a:t>
                      </a:r>
                      <a:endParaRPr lang="es-CR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-Prácticas y funciones gerenciales actuales.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-Desafíos y oportunidades 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CR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- Prácticas y funciones gerenciales: actividades y decisiones que los gerentes realizan para dirigir y organizar.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- Desafíos y oportunidades: obstáculos a superar y situaciones favorables para mejorar el desempeño organizacional.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CR" sz="13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Mediante: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encuestas, entrevistas, análisis documental, observación gerencial.</a:t>
                      </a:r>
                    </a:p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y un FODA.</a:t>
                      </a:r>
                    </a:p>
                    <a:p>
                      <a:endParaRPr lang="es-CR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es-CR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SPSS: Software de análisis estadístico y procesamiento de datos cuantitativos.</a:t>
                      </a:r>
                    </a:p>
                    <a:p>
                      <a:pPr marL="285750" marR="0" indent="-28575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es-CR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SurveyMonkey para crear y administrar encuestas en línea.</a:t>
                      </a:r>
                    </a:p>
                    <a:p>
                      <a:pPr marL="285750" marR="0" indent="-28575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es-CR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Google </a:t>
                      </a:r>
                      <a:r>
                        <a:rPr lang="es-CR" sz="1300" b="0" i="0" u="none" strike="noStrike" cap="none" dirty="0" err="1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Forms</a:t>
                      </a:r>
                      <a:r>
                        <a:rPr lang="es-CR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: para crear formularios y encuestas.</a:t>
                      </a:r>
                    </a:p>
                    <a:p>
                      <a:pPr marL="285750" marR="0" indent="-28575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es-CR" sz="13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Arial"/>
                        </a:rPr>
                        <a:t>Minitab: Software especializado en análisis de datos estadísticos, especialmente útil para calidad y procesos.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5331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2. Objetivo.</a:t>
                      </a:r>
                    </a:p>
                    <a:p>
                      <a:r>
                        <a:rPr lang="es-MX" dirty="0"/>
                        <a:t>3. Objetivo.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endParaRPr lang="es-CR" sz="1800" b="0" i="0" u="none" strike="noStrike" cap="none" dirty="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1483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277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FBF2-0C73-2BFC-7F95-B159E202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5D23-CCAE-E958-F592-D68EF53FC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891" y="781665"/>
            <a:ext cx="10709275" cy="4302125"/>
          </a:xfrm>
        </p:spPr>
        <p:txBody>
          <a:bodyPr>
            <a:normAutofit/>
          </a:bodyPr>
          <a:lstStyle/>
          <a:p>
            <a:pPr marL="114300" indent="0" algn="ctr">
              <a:lnSpc>
                <a:spcPct val="150000"/>
              </a:lnSpc>
              <a:buNone/>
            </a:pPr>
            <a:r>
              <a:rPr lang="es-MX" b="1" dirty="0"/>
              <a:t>Evaluación de las Funciones Gerenciales Mediante el Análisis de Entrevistas, Encuestas y Revisión Documental para Mejorar el Desempeño Organizacional en la Constructora ICASA durante el Segundo Semestre de 2025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Integrantes: Heidy Carranza Jiménez, Fabiola Carvajal Solano, Amanda Arias Cedeño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Universidad Fidélitas.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Fundamentos de Administración y Gerencia AN-102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Profesora: Máster. Heidy Carranza Jiménez.</a:t>
            </a:r>
          </a:p>
          <a:p>
            <a:pPr marL="114300" indent="0" algn="ctr">
              <a:lnSpc>
                <a:spcPct val="150000"/>
              </a:lnSpc>
              <a:buNone/>
            </a:pPr>
            <a:r>
              <a:rPr lang="es-MX" dirty="0"/>
              <a:t>Mes, año</a:t>
            </a:r>
          </a:p>
          <a:p>
            <a:endParaRPr lang="en-CR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E0A52D-C9E6-9837-4C2D-B87E0ABBA2B4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163889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CK Fidélitas_PowerPoint" id="{E930053F-9263-144D-869E-70262CF1D3B4}" vid="{9A44745D-30D4-914C-B0B0-72FE82E5B98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DB305B3F013243A750D5CE6F6F5CD1" ma:contentTypeVersion="11" ma:contentTypeDescription="Crear nuevo documento." ma:contentTypeScope="" ma:versionID="a1825db5fec43d32e4349d6269c06ce1">
  <xsd:schema xmlns:xsd="http://www.w3.org/2001/XMLSchema" xmlns:xs="http://www.w3.org/2001/XMLSchema" xmlns:p="http://schemas.microsoft.com/office/2006/metadata/properties" xmlns:ns2="91090e5a-e84c-4f3e-b6c3-b82e0df3fa56" xmlns:ns3="8959e390-521b-4145-9d92-0ff133dbbb11" targetNamespace="http://schemas.microsoft.com/office/2006/metadata/properties" ma:root="true" ma:fieldsID="b47b11823b808016320de48543b5ca04" ns2:_="" ns3:_="">
    <xsd:import namespace="91090e5a-e84c-4f3e-b6c3-b82e0df3fa56"/>
    <xsd:import namespace="8959e390-521b-4145-9d92-0ff133dbbb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90e5a-e84c-4f3e-b6c3-b82e0df3fa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28115887-cdc3-4f46-b99a-2756c4b594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9e390-521b-4145-9d92-0ff133dbbb1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592d541-9d27-49f0-8b3b-91a43d73333e}" ma:internalName="TaxCatchAll" ma:showField="CatchAllData" ma:web="8959e390-521b-4145-9d92-0ff133dbbb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090e5a-e84c-4f3e-b6c3-b82e0df3fa56">
      <Terms xmlns="http://schemas.microsoft.com/office/infopath/2007/PartnerControls"/>
    </lcf76f155ced4ddcb4097134ff3c332f>
    <TaxCatchAll xmlns="8959e390-521b-4145-9d92-0ff133dbbb11" xsi:nil="true"/>
  </documentManagement>
</p:properties>
</file>

<file path=customXml/itemProps1.xml><?xml version="1.0" encoding="utf-8"?>
<ds:datastoreItem xmlns:ds="http://schemas.openxmlformats.org/officeDocument/2006/customXml" ds:itemID="{A336D7FF-03AB-464A-AE38-628CCAE2E8A1}"/>
</file>

<file path=customXml/itemProps2.xml><?xml version="1.0" encoding="utf-8"?>
<ds:datastoreItem xmlns:ds="http://schemas.openxmlformats.org/officeDocument/2006/customXml" ds:itemID="{07740604-FA4A-487E-899F-5ACF55B3BE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B8094-0BA2-4B5C-BACA-76ABAD7DA9A6}"/>
</file>

<file path=docProps/app.xml><?xml version="1.0" encoding="utf-8"?>
<Properties xmlns="http://schemas.openxmlformats.org/officeDocument/2006/extended-properties" xmlns:vt="http://schemas.openxmlformats.org/officeDocument/2006/docPropsVTypes">
  <Template>NONO</Template>
  <TotalTime>47</TotalTime>
  <Words>534</Words>
  <Application>Microsoft Office PowerPoint</Application>
  <PresentationFormat>Panorámica</PresentationFormat>
  <Paragraphs>58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Tahoma</vt:lpstr>
      <vt:lpstr>Calibri</vt:lpstr>
      <vt:lpstr>Avenir</vt:lpstr>
      <vt:lpstr>Tema de Office</vt:lpstr>
      <vt:lpstr>Presentación de PowerPoint</vt:lpstr>
      <vt:lpstr>Planteamiento del Problema</vt:lpstr>
      <vt:lpstr>Pregunta de Investigación</vt:lpstr>
      <vt:lpstr>Justificación</vt:lpstr>
      <vt:lpstr>Objetivo General</vt:lpstr>
      <vt:lpstr>Objetivos Específicos</vt:lpstr>
      <vt:lpstr>Desarrollo de Objetivos</vt:lpstr>
      <vt:lpstr>Conclusión de Objetivos</vt:lpstr>
      <vt:lpstr>Propuesta de Solución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Heidy Carranza Jimenez</dc:creator>
  <cp:lastModifiedBy>Heidy Carranza Jimenez</cp:lastModifiedBy>
  <cp:revision>29</cp:revision>
  <dcterms:created xsi:type="dcterms:W3CDTF">2025-04-08T00:39:24Z</dcterms:created>
  <dcterms:modified xsi:type="dcterms:W3CDTF">2025-04-11T00:17:15Z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0x010100D8DB305B3F013243A750D5CE6F6F5CD1</vt:lpwstr>
  </property>
</Properties>
</file>